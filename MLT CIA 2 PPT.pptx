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71" r:id="rId2"/>
    <p:sldId id="257" r:id="rId3"/>
    <p:sldId id="270" r:id="rId4"/>
    <p:sldId id="258" r:id="rId5"/>
    <p:sldId id="269" r:id="rId6"/>
    <p:sldId id="280" r:id="rId7"/>
    <p:sldId id="281" r:id="rId8"/>
    <p:sldId id="282" r:id="rId9"/>
    <p:sldId id="283" r:id="rId10"/>
    <p:sldId id="284" r:id="rId11"/>
    <p:sldId id="285" r:id="rId12"/>
    <p:sldId id="272" r:id="rId13"/>
    <p:sldId id="278" r:id="rId14"/>
    <p:sldId id="267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9CEF68-5E93-3E4E-B7DD-64AFDC9A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>
            <a:extLst>
              <a:ext uri="{FF2B5EF4-FFF2-40B4-BE49-F238E27FC236}">
                <a16:creationId xmlns:a16="http://schemas.microsoft.com/office/drawing/2014/main" id="{5B53010E-8998-92F5-E287-D6A552990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>
            <a:extLst>
              <a:ext uri="{FF2B5EF4-FFF2-40B4-BE49-F238E27FC236}">
                <a16:creationId xmlns:a16="http://schemas.microsoft.com/office/drawing/2014/main" id="{C10E95EB-6593-17F0-871A-BF22D08E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6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2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858537"/>
            <a:ext cx="8938418" cy="62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 </a:t>
            </a:r>
          </a:p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083"/>
            <a:ext cx="8077199" cy="795454"/>
          </a:xfrm>
        </p:spPr>
        <p:txBody>
          <a:bodyPr spcFirstLastPara="1">
            <a:normAutofit/>
          </a:bodyPr>
          <a:lstStyle/>
          <a:p>
            <a:pPr algn="ctr">
              <a:defRPr/>
            </a:pP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AGI1242- MACHINE LEARNING TECHNIQUES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sym typeface="Arial"/>
            </a:endParaRPr>
          </a:p>
        </p:txBody>
      </p:sp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039" y="157163"/>
            <a:ext cx="1160811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2626BC-9078-8C2E-5298-50B83E00CB69}"/>
              </a:ext>
            </a:extLst>
          </p:cNvPr>
          <p:cNvSpPr txBox="1"/>
          <p:nvPr/>
        </p:nvSpPr>
        <p:spPr>
          <a:xfrm>
            <a:off x="1501698" y="2483005"/>
            <a:ext cx="5828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COURSE RECOMMENDATION SYSTEM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89498-CEAE-CAB0-F852-9CC9A1706EF0}"/>
              </a:ext>
            </a:extLst>
          </p:cNvPr>
          <p:cNvSpPr txBox="1"/>
          <p:nvPr/>
        </p:nvSpPr>
        <p:spPr>
          <a:xfrm>
            <a:off x="2289716" y="3336973"/>
            <a:ext cx="37988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rgbClr val="0000FF"/>
                </a:solidFill>
              </a:rPr>
              <a:t>                       PRESENTED BY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IN" dirty="0"/>
              <a:t>2503811724322116   - VIDHYAA SHRI R</a:t>
            </a:r>
            <a:br>
              <a:rPr lang="en-IN" dirty="0"/>
            </a:br>
            <a:r>
              <a:rPr lang="en-IN" dirty="0"/>
              <a:t>2503811724322118   - VINOTHINI S</a:t>
            </a:r>
            <a:br>
              <a:rPr lang="en-IN" dirty="0"/>
            </a:br>
            <a:r>
              <a:rPr lang="en-IN" dirty="0"/>
              <a:t>2503811724321120   - VISHAL B</a:t>
            </a:r>
            <a:br>
              <a:rPr lang="en-IN" dirty="0"/>
            </a:br>
            <a:r>
              <a:rPr lang="en-IN" dirty="0"/>
              <a:t>2503811724321124   - VISVESWARAN S</a:t>
            </a:r>
            <a:br>
              <a:rPr lang="en-IN" dirty="0"/>
            </a:br>
            <a:r>
              <a:rPr lang="en-IN" dirty="0"/>
              <a:t>2503811724321126   - YOKESH M P M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 descr="KRCT">
            <a:extLst>
              <a:ext uri="{FF2B5EF4-FFF2-40B4-BE49-F238E27FC236}">
                <a16:creationId xmlns:a16="http://schemas.microsoft.com/office/drawing/2014/main" id="{10386FF0-1868-3327-3F9D-E90444A2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92860" cy="1305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82493" y="1183601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Objective</a:t>
            </a:r>
          </a:p>
          <a:p>
            <a:pPr marL="361950" indent="-28575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dk1"/>
                </a:solidFill>
              </a:rPr>
              <a:t>Problem Identification</a:t>
            </a:r>
          </a:p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Flow Diagram</a:t>
            </a:r>
          </a:p>
          <a:p>
            <a:pPr marL="419100" lvl="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Literature survey</a:t>
            </a:r>
            <a:endParaRPr lang="en" sz="1800" b="1" dirty="0">
              <a:solidFill>
                <a:schemeClr val="tx1"/>
              </a:solidFill>
            </a:endParaRP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Research methodology</a:t>
            </a: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Compare algorithm</a:t>
            </a:r>
          </a:p>
          <a:p>
            <a:pPr marL="361950" lvl="0" indent="-28575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/>
              <a:t>Implementation Idea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Modules</a:t>
            </a:r>
          </a:p>
          <a:p>
            <a:pPr marL="41910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Conclusion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76200" lvl="0">
              <a:lnSpc>
                <a:spcPct val="115000"/>
              </a:lnSpc>
              <a:buClr>
                <a:schemeClr val="dk1"/>
              </a:buClr>
              <a:buSzPts val="2400"/>
            </a:pPr>
            <a:endParaRPr lang="en" sz="2000" b="1" dirty="0">
              <a:solidFill>
                <a:schemeClr val="tx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"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3553134-2F63-CCE3-840E-4D6892A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extLst>
              <a:ext uri="{FF2B5EF4-FFF2-40B4-BE49-F238E27FC236}">
                <a16:creationId xmlns:a16="http://schemas.microsoft.com/office/drawing/2014/main" id="{030BC34D-188A-4606-08C3-42B4094D7D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>
            <a:extLst>
              <a:ext uri="{FF2B5EF4-FFF2-40B4-BE49-F238E27FC236}">
                <a16:creationId xmlns:a16="http://schemas.microsoft.com/office/drawing/2014/main" id="{F97F3ED1-D2B3-A8FD-1FD4-46821E65E1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38BD73A-3828-0D5B-ED72-9B5230F61CC0}"/>
              </a:ext>
            </a:extLst>
          </p:cNvPr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OBJECTIVE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AEFD2-A77F-EBCA-B577-C6C95A16FE16}"/>
              </a:ext>
            </a:extLst>
          </p:cNvPr>
          <p:cNvSpPr txBox="1"/>
          <p:nvPr/>
        </p:nvSpPr>
        <p:spPr>
          <a:xfrm>
            <a:off x="542693" y="1556552"/>
            <a:ext cx="722599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develop a personalized course recommendation system.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</a:t>
            </a:r>
            <a:r>
              <a:rPr lang="en-IN" sz="1800" dirty="0" err="1"/>
              <a:t>analyze</a:t>
            </a:r>
            <a:r>
              <a:rPr lang="en-IN" sz="1800" dirty="0"/>
              <a:t> student skills, interests, and preferences.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recommend relevant courses using Machine Learning.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rank courses based on their similarity and relevance.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improve the student's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229646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PROBLEM IDENTIFICATION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26431-4962-AF65-B522-42C0CBA260B4}"/>
              </a:ext>
            </a:extLst>
          </p:cNvPr>
          <p:cNvSpPr txBox="1"/>
          <p:nvPr/>
        </p:nvSpPr>
        <p:spPr>
          <a:xfrm>
            <a:off x="438615" y="1556552"/>
            <a:ext cx="8080917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Students face difficulty choosing the right course from numerous options.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Generic course lists do not consider individual interests and skills.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Manual course selection is time-consuming.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Students may choose courses that do not match their skill level.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 personalized recommendation system can solve this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;p17">
            <a:extLst>
              <a:ext uri="{FF2B5EF4-FFF2-40B4-BE49-F238E27FC236}">
                <a16:creationId xmlns:a16="http://schemas.microsoft.com/office/drawing/2014/main" id="{CA016C41-91F5-CB2C-015F-8DA0A6279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6117"/>
            <a:ext cx="840112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 algn="ctr">
              <a:buSzPts val="2400"/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7555A6-379A-9572-FCF3-13CD53109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28" y="650715"/>
            <a:ext cx="6274418" cy="4519715"/>
          </a:xfrm>
          <a:prstGeom prst="rect">
            <a:avLst/>
          </a:prstGeom>
        </p:spPr>
      </p:pic>
      <p:pic>
        <p:nvPicPr>
          <p:cNvPr id="3" name="Google Shape;85;p17">
            <a:extLst>
              <a:ext uri="{FF2B5EF4-FFF2-40B4-BE49-F238E27FC236}">
                <a16:creationId xmlns:a16="http://schemas.microsoft.com/office/drawing/2014/main" id="{2F74DF28-2223-E9DB-8A70-B73DCC4CC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6;p17">
            <a:extLst>
              <a:ext uri="{FF2B5EF4-FFF2-40B4-BE49-F238E27FC236}">
                <a16:creationId xmlns:a16="http://schemas.microsoft.com/office/drawing/2014/main" id="{1069C205-AF9E-FA64-E7CB-620985FB28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993D-804C-C2C1-8C3F-84184D9E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DDD4-641D-D4E9-4CC8-E9EE6C0C8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58" y="1152525"/>
            <a:ext cx="7463884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FE5BDC-7711-C6CB-B470-0DC42525E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67571"/>
              </p:ext>
            </p:extLst>
          </p:nvPr>
        </p:nvGraphicFramePr>
        <p:xfrm>
          <a:off x="840058" y="1152525"/>
          <a:ext cx="7471316" cy="341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977878048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4862334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2183855289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631226650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9730076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Systematic Review of Recommendation Systems for Course Selection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514295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DORIS: Personalized Course Recommendation System Based on Deep Learning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Deep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1005628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Analytical Review and Study on Various Course Recommendation Systems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ML &amp; Data Mining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44159166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Course Recommendation Based on Enhancement of Meta-Path Embedding in Heterogeneous Graph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Graph Embedding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875069109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 Based MOOC Course Recommendation System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640337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45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CE35-8ABC-50A7-CF50-B23ED294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0CE33-F13D-5A87-45D2-274D7527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60" y="1152525"/>
            <a:ext cx="7471316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86FCA-C231-E253-417C-C721B0A22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24630"/>
              </p:ext>
            </p:extLst>
          </p:nvPr>
        </p:nvGraphicFramePr>
        <p:xfrm>
          <a:off x="832624" y="1152525"/>
          <a:ext cx="7471316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37772417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3805196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93323357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835538573"/>
                    </a:ext>
                  </a:extLst>
                </a:gridCol>
              </a:tblGrid>
              <a:tr h="19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S.No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Year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Research Paper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Technique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700604210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Dynamic Educational Recommender System Based on Improved LSTM Neural Network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LSTM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520502335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Extracting Course Features and Learner Profiling for Course Recommendation Systems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NLP &amp; ML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2083793231"/>
                  </a:ext>
                </a:extLst>
              </a:tr>
              <a:tr h="47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Session-Based Methods for Course Recommendation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Session-Based ML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836290077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 Course Recommender System Built on Success to Support Students at Risk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KNN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484059398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Machine Learning Recommender System for Enhanced Student Course Selection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Machine Learning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978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81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B44A-0A1E-56CF-904B-1E6F22BF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7675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39760-A934-4B7E-1511-D72A76B05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136" y="1152525"/>
            <a:ext cx="7211125" cy="3453105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3D311B-DAFA-9835-0AFF-4EA5B5B06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33217"/>
              </p:ext>
            </p:extLst>
          </p:nvPr>
        </p:nvGraphicFramePr>
        <p:xfrm>
          <a:off x="944137" y="1152525"/>
          <a:ext cx="7211124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2781">
                  <a:extLst>
                    <a:ext uri="{9D8B030D-6E8A-4147-A177-3AD203B41FA5}">
                      <a16:colId xmlns:a16="http://schemas.microsoft.com/office/drawing/2014/main" val="407569760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16515156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515225949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883122531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0856102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of Online Courses Recommendation Based on Deep Learning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Deep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007752368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An Efficient Course Recommendation System for Higher Education Students Using ML Techniques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4044821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Personalized Course Recommendation System: A Multi-Model ML Framework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Multi-Model ML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44870317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2026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DRG: A Dual Relational Graph Framework for Course Recommendation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Graph Neural Network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83831665"/>
                  </a:ext>
                </a:extLst>
              </a:tr>
              <a:tr h="82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2026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Learning Like a Human: Zero-Shot Personalized Course Recommendation via Cognitive Diagnosis and LLM Agents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LLM &amp; ML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22007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0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673C-C80C-4334-99F0-53A47188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RESEARCH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13475-714E-FA50-E260-E463B3833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11902"/>
            <a:ext cx="8520600" cy="345697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3380E-F913-016C-94D5-0E41898D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9" b="3127"/>
          <a:stretch>
            <a:fillRect/>
          </a:stretch>
        </p:blipFill>
        <p:spPr>
          <a:xfrm>
            <a:off x="553844" y="1017725"/>
            <a:ext cx="8036311" cy="34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7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DE2D-219F-6088-8688-5E3FE31D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COMPARE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618DC-8B39-198C-81DD-61DF1BF5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2" y="1152474"/>
            <a:ext cx="8415988" cy="372432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8BA2D4-E9CF-E98C-1A58-F1CD7E0A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30079"/>
              </p:ext>
            </p:extLst>
          </p:nvPr>
        </p:nvGraphicFramePr>
        <p:xfrm>
          <a:off x="416312" y="1150216"/>
          <a:ext cx="8415988" cy="3726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997">
                  <a:extLst>
                    <a:ext uri="{9D8B030D-6E8A-4147-A177-3AD203B41FA5}">
                      <a16:colId xmlns:a16="http://schemas.microsoft.com/office/drawing/2014/main" val="1503142260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444899382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976660887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36596936"/>
                    </a:ext>
                  </a:extLst>
                </a:gridCol>
              </a:tblGrid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Criteria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Content-Based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Collaborative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Hybrid Recommendation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58109090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 Input Data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Student &amp; course features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Student-course history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Both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56877857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2. Technique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TF-IDF + Cosine Similarity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KNN / Matrix Factorization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CBF + CF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42605790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3. Personalization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417255352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4. Data Requirement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Medium–High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65229319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5. Implementation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Easy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Complex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9694091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 Accuracy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85534479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7. Cold Start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Low–Medium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4333903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8. Explainability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84038324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9. Scalability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19787469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10. Project Suitability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Excellent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Very 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80361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85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E3E7-F443-1E65-C800-ECFB95B5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IMPLEMENTION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285E7-D29D-190C-A3DF-601ED9E2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57418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student details such as skills, interests, preferred domain, and academic performance.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course details such as course name, description, category, skills, and difficulty level.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Preprocess the data by removing missing, duplicate, and unnecessary information.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Apply TF-IDF to convert student interests and course descriptions into numerical vectors.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Calculate Cosine Similarity to measure the match between the student profile and each course.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Rank the courses according to their similarity scores.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Recommend the Top-N most suitable courses to the student through a user-friendly interface.</a:t>
            </a:r>
          </a:p>
          <a:p>
            <a:pPr marL="114300" indent="0">
              <a:lnSpc>
                <a:spcPct val="170000"/>
              </a:lnSpc>
              <a:buNone/>
            </a:pPr>
            <a:r>
              <a:rPr lang="en-IN" sz="2000" b="1" dirty="0">
                <a:solidFill>
                  <a:schemeClr val="tx1"/>
                </a:solidFill>
              </a:rPr>
              <a:t>Flow:</a:t>
            </a:r>
            <a:br>
              <a:rPr lang="en-IN" sz="2000" dirty="0">
                <a:solidFill>
                  <a:srgbClr val="C00000"/>
                </a:solidFill>
              </a:rPr>
            </a:br>
            <a:r>
              <a:rPr lang="en-IN" sz="2000" dirty="0">
                <a:solidFill>
                  <a:srgbClr val="C00000"/>
                </a:solidFill>
              </a:rPr>
              <a:t>Student Data → Preprocessing → TF-IDF → Cosine Similarity → Course Ranking → Top-N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67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59FA-9D9D-32BF-193A-36E1CD3F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19E6E-C6DF-6EA7-170A-0F1B250BD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Student Profile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114300" lvl="0" indent="0">
              <a:buNone/>
            </a:pPr>
            <a:r>
              <a:rPr lang="en-IN" sz="1800" dirty="0"/>
              <a:t>            </a:t>
            </a:r>
            <a:r>
              <a:rPr lang="en-IN" sz="1800" dirty="0">
                <a:solidFill>
                  <a:schemeClr val="tx1"/>
                </a:solidFill>
              </a:rPr>
              <a:t>Collects student skills, interests, and experience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Course Dataset Module</a:t>
            </a:r>
            <a:r>
              <a:rPr lang="en-IN" dirty="0">
                <a:solidFill>
                  <a:schemeClr val="tx1"/>
                </a:solidFill>
              </a:rPr>
              <a:t>   </a:t>
            </a:r>
          </a:p>
          <a:p>
            <a:pPr marL="114300" lvl="0" indent="0">
              <a:buNone/>
            </a:pPr>
            <a:r>
              <a:rPr lang="en-IN" sz="1800" dirty="0"/>
              <a:t>       </a:t>
            </a:r>
            <a:r>
              <a:rPr lang="en-IN" sz="1800" dirty="0">
                <a:solidFill>
                  <a:schemeClr val="tx1"/>
                </a:solidFill>
              </a:rPr>
              <a:t>Stores course names, categories, skills, ratings, and descriptions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Data Preprocessing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114300" lvl="0" indent="0">
              <a:buNone/>
            </a:pPr>
            <a:r>
              <a:rPr lang="en-IN" sz="1800" dirty="0"/>
              <a:t>        </a:t>
            </a:r>
            <a:r>
              <a:rPr lang="en-IN" sz="1800" dirty="0">
                <a:solidFill>
                  <a:schemeClr val="tx1"/>
                </a:solidFill>
              </a:rPr>
              <a:t>Cleans and prepares the dataset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Recommendation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596900" lvl="1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Calculates similarity between student preferences and courses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Result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596900" lvl="1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Displays the top recommended courses.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Google Shape;86;p17">
            <a:extLst>
              <a:ext uri="{FF2B5EF4-FFF2-40B4-BE49-F238E27FC236}">
                <a16:creationId xmlns:a16="http://schemas.microsoft.com/office/drawing/2014/main" id="{210B65D5-8001-16A6-27AB-CDC50444E4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5;p17">
            <a:extLst>
              <a:ext uri="{FF2B5EF4-FFF2-40B4-BE49-F238E27FC236}">
                <a16:creationId xmlns:a16="http://schemas.microsoft.com/office/drawing/2014/main" id="{93684B25-4B5C-339D-BA63-7DA721ACBF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907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9AB7-FEA0-A8B3-E130-B9F0DB74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3D8E6-1EF0-736C-B1A7-A6B48E70D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Course Recommendation System helps students select suitable courses.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Machine Learning enables personalized and intelligent recommendations.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Content-Based Filtering and Cosine Similarity provide an effective basic recommendation approach.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system can be further enhanced using advanced recommendation algorithms.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85;p17">
            <a:extLst>
              <a:ext uri="{FF2B5EF4-FFF2-40B4-BE49-F238E27FC236}">
                <a16:creationId xmlns:a16="http://schemas.microsoft.com/office/drawing/2014/main" id="{6C037165-71CB-1F8C-8F13-E756758239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1" y="15240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;p17">
            <a:extLst>
              <a:ext uri="{FF2B5EF4-FFF2-40B4-BE49-F238E27FC236}">
                <a16:creationId xmlns:a16="http://schemas.microsoft.com/office/drawing/2014/main" id="{B74BA91D-C071-165F-13F2-73BBFDDCB8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80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722</Words>
  <Application>Microsoft Office PowerPoint</Application>
  <PresentationFormat>On-screen Show (16:9)</PresentationFormat>
  <Paragraphs>183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Simple Light</vt:lpstr>
      <vt:lpstr> AGI1242- MACHINE LEARNING TECHNIQUES 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RESEARCH METHODOLOGY</vt:lpstr>
      <vt:lpstr>COMPARE ALGORITHM</vt:lpstr>
      <vt:lpstr>IMPLEMENTION IDEA</vt:lpstr>
      <vt:lpstr>MODULES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NAKUL R</dc:creator>
  <cp:lastModifiedBy>Visveswaran S</cp:lastModifiedBy>
  <cp:revision>15</cp:revision>
  <dcterms:modified xsi:type="dcterms:W3CDTF">2026-10-04T17:52:50Z</dcterms:modified>
</cp:coreProperties>
</file>